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1.jpeg" ContentType="image/jpeg"/>
  <Override PartName="/ppt/media/image2.jpeg" ContentType="image/jpe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" name="Shape 2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pp. 3–7; Procedimiento UpKeep VNA.pdf pp. 1–10.</a:t>
            </a:r>
          </a:p>
          <a:p>
            <a:pPr/>
          </a:p>
          <a:p>
            <a:pPr/>
            <a:r>
              <a:t>Capacitación interna basada en los materiales aportados. El diseño retoma el azul y el fondo oscuro del PDF VNA. No hay cambios a las políticas.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" name="Shape 4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p. 4.</a:t>
            </a:r>
          </a:p>
          <a:p>
            <a:pPr/>
          </a:p>
          <a:p>
            <a:pPr/>
            <a:r>
              <a:t>Objetivos didácticos derivados de las responsabilidades del Regional. La presentación no define una calificación mínima oficial.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2" name="Shape 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pp. 3–7, 18, 21–35.</a:t>
            </a:r>
          </a:p>
          <a:p>
            <a:pPr/>
          </a:p>
          <a:p>
            <a:pPr/>
            <a:r>
              <a:t>Síntesis didáctica del proceso. La escalación puede ocurrir cuando la incidencia lo requiere, sin esperar a terminar todos los pasos. El envío no implica aprobación.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0" name="Shape 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pp. 4–6.</a:t>
            </a:r>
          </a:p>
          <a:p>
            <a:pPr/>
          </a:p>
          <a:p>
            <a:pPr/>
            <a:r>
              <a:t>El PDF VNA p. 10 menciona “Aprobación regional”, pero el procedimiento formal pp. 4–5 asigna aprobación y rechazo a los coordinadores. Para el rol Regional se conserva la supervisión, validación cuando aplica y escalación. No se transfiere la aprobación al Regional.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3" name="Shape 11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pp. 4, 8–10.</a:t>
            </a:r>
          </a:p>
          <a:p>
            <a:pPr/>
          </a:p>
          <a:p>
            <a:pPr/>
            <a:r>
              <a:t>Revisar que sea una necesidad real y no provocada por mala operación del personal, como indica p. 9. Casos no listados también pueden revisarse si corresponden al alcance. Usuarios sin autorización y solicitudes ajenas quedan excluidos.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2" name="Shape 12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pp. 10–17.</a:t>
            </a:r>
          </a:p>
          <a:p>
            <a:pPr/>
          </a:p>
          <a:p>
            <a:pPr/>
            <a:r>
              <a:t>Cada grupo conserva el rango del procedimiento formal. No adoptar la agrupación de plomería como “Crítica / Alta” del PDF VNA p. 4: el formal p. 17 indica Alta / Media. Anexos con los 14 grupos al final.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p. 17, imágenes originales de la matriz.</a:t>
            </a:r>
          </a:p>
          <a:p>
            <a:pPr/>
          </a:p>
          <a:p>
            <a:pPr/>
            <a:r>
              <a:t>Preguntar qué elemento cambia entre las dos imágenes. La evidencia visual ayuda a reconocer una condición reportable. Evitar atribuir causas que la imagen no demuestra.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4" name="Shape 14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pp. 18–21.</a:t>
            </a:r>
          </a:p>
          <a:p>
            <a:pPr/>
          </a:p>
          <a:p>
            <a:pPr/>
            <a:r>
              <a:t>Aplicar las medidas según la condición detectada y cuando sea seguro. Para extintores: acceso libre e informe inmediato de equipo no disponible, dañado o no operable. Para pisos: delimitar y evitar tránsito por la zona de riesgo.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3" name="Shape 15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pp. 9–14, 17–21.</a:t>
            </a:r>
          </a:p>
          <a:p>
            <a:pPr/>
          </a:p>
          <a:p>
            <a:pPr/>
            <a:r>
              <a:t>ACTIVIDAD DIDÁCTICA. Tiempo sugerido, no política. Respuestas: A sí procede, falla eléctrica. Suspender uso del punto, delimitar, evitar manipular y reportar prioritariamente el riesgo. B con los datos del caso es condición aceptable, no justifica intervención correctiva. C sí procede. Restringir el paso bajo la zona, no manipular piezas, verificar registro claro y escalar si impacto o urgencia lo requiere.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5" name="Shape 16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pp. 22–24; Guía rápida.pdf pp. 1–2.</a:t>
            </a:r>
          </a:p>
          <a:p>
            <a:pPr/>
          </a:p>
          <a:p>
            <a:pPr/>
            <a:r>
              <a:t>Enlace: https://request-portal.onupkeep.com/vento-powersports. Si no se puede acceder, hay fallas de visualización o una anomalía impide registrar, la Agencia debe reportarlo al Gerente Regional. Captura original del procedimiento, figura 1.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4" name="Shape 17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pp. 23–25; Guía rápida.pdf p. 1.</a:t>
            </a:r>
          </a:p>
          <a:p>
            <a:pPr/>
          </a:p>
          <a:p>
            <a:pPr/>
            <a:r>
              <a:t>Ejemplos didácticos adaptados de los materiales y escritos sin acentos ni ñ para el campo de descripción. Solicitar al grupo que explique qué información falta en cada ejemplo incorrecto.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3" name="Shape 18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pp. 25–29; Guía rápida.pdf p. 2.</a:t>
            </a:r>
          </a:p>
          <a:p>
            <a:pPr/>
          </a:p>
          <a:p>
            <a:pPr/>
            <a:r>
              <a:t>La precisión del título automático no se corrige manualmente. Mantenimiento prioriza las órdenes con base en urgencia, p. 5. La escalación regional se realiza según impacto, urgencia o recurrencia, p. 4.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4" name="Shape 19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pp. 26–29.</a:t>
            </a:r>
          </a:p>
          <a:p>
            <a:pPr/>
          </a:p>
          <a:p>
            <a:pPr/>
            <a:r>
              <a:t>Capturas originales. Categorías visibles: Daño, Eléctrico, Inspección, Mejora, Ninguno, Preventivo, Proyecto y Seguridad. Daño para afectación física, Eléctrico para contactos, luminarias o cableado y Seguridad para condiciones de riesgo, como referencia. No confundir estos grupos con los 14 grupos técnicos de la matriz.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8" name="Shape 2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pp. 30–32; Guía rápida.pdf p. 3.</a:t>
            </a:r>
          </a:p>
          <a:p>
            <a:pPr/>
          </a:p>
          <a:p>
            <a:pPr/>
            <a:r>
              <a:t>La captura muestra un correo de ejemplo del material, no una instrucción para usar ese correo. Debe capturarse el de la Agencia. El formal pide procurar imágenes claras y permite enviar sin evidencia disponible. La guía rápida dice carga opcional. Mantenimiento puede solicitar evidencia adicional para validar, p. 5. Evitar fotografías borrosas, desactualizadas o ajenas al caso.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9" name="Shape 2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pp. 31–33; Guía rápida.pdf pp. 3–4.</a:t>
            </a:r>
          </a:p>
          <a:p>
            <a:pPr/>
          </a:p>
          <a:p>
            <a:pPr/>
            <a:r>
              <a:t>Confirmar el mensaje antes de dar por concluido el levantamiento. La pantalla confirma el registro y envío al equipo de mantenimiento, no la aprobación ni la ejecución. La captura admite hasta 5 archivos y muestra formatos PNG, JPG, GIF, WEBP y PDF. Es referencia de la pantalla aportada, no una regla nueva.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1" name="Shape 2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pp. 33–34; Guía rápida.pdf pp. 4–5.</a:t>
            </a:r>
          </a:p>
          <a:p>
            <a:pPr/>
          </a:p>
          <a:p>
            <a:pPr/>
            <a:r>
              <a:t>El registro del correo solo se realiza una vez cuando aún no está reconocido. El sistema envía un nuevo correo con acceso. Revisar bandeja de entrada y spam si es necesario. Conservar el correo inicial como evidencia de recepción.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1" name="Shape 2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pp. 4, 33–34; Guía rápida.pdf p. 5.</a:t>
            </a:r>
          </a:p>
          <a:p>
            <a:pPr/>
          </a:p>
          <a:p>
            <a:pPr/>
            <a:r>
              <a:t>Captura original muestra “Pendiente de Aprobación”. Describir el estatus que el portal presenta, sin imponer una secuencia nueva de estados. Seguimiento hasta atención o cierre. No se especifica una frecuencia de revisión ni SLA en las fuentes formales.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5" name="Shape 25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pp. 4–5.</a:t>
            </a:r>
          </a:p>
          <a:p>
            <a:pPr/>
          </a:p>
          <a:p>
            <a:pPr/>
            <a:r>
              <a:t>La fuente no define umbrales numéricos, SLA, direcciones de correo ni un canal obligatorio de escalación. No introducirlos. Apoyo didáctico para presentar un caso: identificar Agencia y ticket, condición observada, impacto o repetición y avance conocido. Esto es una ayuda de comunicación, no un requisito adicional.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9" name="Shape 26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pp. 4, 6–7.</a:t>
            </a:r>
          </a:p>
          <a:p>
            <a:pPr/>
          </a:p>
          <a:p>
            <a:pPr/>
            <a:r>
              <a:t>El PDF VNA p. 3 habla de firmar conformidad. El procedimiento formal no especifica un formato, firma obligatoria ni quién cambia el estatus final. Se conserva la obligación de seguimiento y correcta ejecución, sin crear un trámite de firma. Preguntas sugeridas: ¿la falla reportada recibió atención?, ¿la ejecución corresponde al caso?, ¿se observa una nueva desviación o recurrencia?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27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7" name="Shape 27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pp. 3–5, 8–10, 18–34.</a:t>
            </a:r>
          </a:p>
          <a:p>
            <a:pPr/>
          </a:p>
          <a:p>
            <a:pPr/>
            <a:r>
              <a:t>Checklist didáctico derivado de los pasos fuente. No representa un formulario oficial adicional. Evidencia cuando aplique, sin convertir la carga opcional de la guía rápida en requisito absoluto.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8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6" name="Shape 28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pp. 4, 19, 23–34.</a:t>
            </a:r>
          </a:p>
          <a:p>
            <a:pPr/>
          </a:p>
          <a:p>
            <a:pPr/>
            <a:r>
              <a:t>ACTIVIDAD DIDÁCTICA. Respuesta: descripción de falla, elemento y ubicación sin acentos ni ñ. Agencia A. No editar título ni prioridad. Revisar categoría relacionada, Eléctrico como referencia. Capturar contacto de Agencia y nombre completo del registrante. Evidencia del caso actual si disponible. Verificar pantalla de envío y correo. Contener riesgo eléctrico y valorar escalación por urgencia o impacto. La fuente no describe cómo corregir un ticket ya enviado, no inventar botones o flujo de edición posterior.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8" name="Shape 2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pp. 4, 15, 20, 22–34.</a:t>
            </a:r>
          </a:p>
          <a:p>
            <a:pPr/>
          </a:p>
          <a:p>
            <a:pPr/>
            <a:r>
              <a:t>CASO SIMULADO. Respuesta orientativa: procede como impermeabilización. Contener goteos solo si seguro, proteger mobiliario, señalizar superficies mojadas y evitar uso del área si hay riesgo. “Filtracion de agua en techo de almacen”. Seleccionar Agencia real, no modificar título o prioridad, categoría según naturaleza y opciones, contactos de Agencia, evidencia actual cuando aporte. Repetición requiere validación y puede justificar escalación. Consulta desde correo, here, mismo correo, Send Sign-In Link, acceso dentro de 30 minutos. No enviar tickets ficticios al portal productivo durante esta práctica.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8" name="Shape 3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pp. 4–5, 25–34.</a:t>
            </a:r>
          </a:p>
          <a:p>
            <a:pPr/>
          </a:p>
          <a:p>
            <a:pPr/>
            <a:r>
              <a:t>RESPUESTAS: 1 Coordinadores local o foráneo. 2 Título y prioridad. 3 Mensaje Solicitud Enviada y correo de recepción. 4 here, correo del ticket, Send Sign-In Link, enlace vigente 30 minutos y portal. 5 Incidencias recurrentes, desviaciones y atención prioritaria; escala por impacto, urgencia o recurrencia cuando necesario. Sugerencia de facilitación: registrar evidencia de la respuesta y retroalimentar errores con la fuente. No hay umbral de aprobación definido en los PDFs.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31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6" name="Shape 31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pp. 11–14.</a:t>
            </a:r>
          </a:p>
          <a:p>
            <a:pPr/>
          </a:p>
          <a:p>
            <a:pPr/>
            <a:r>
              <a:t>Resumen de los grupos y sus rangos completos. La lista de daños en el procedimiento contiene más ejemplos. La matriz no agota todos los casos y no sustituye la validación del ticket.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4" name="Shape 3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Procedimiento para Levantamiento de Ticket de Mantenimiento en UpKeep con comentarios (1).pdf pp. 14–17.</a:t>
            </a:r>
          </a:p>
          <a:p>
            <a:pPr/>
          </a:p>
          <a:p>
            <a:pPr/>
            <a:r>
              <a:t>Resumen. Para acciones iniciales consultar pp. 19–21: no forzar mecanismos, suspender uso de mobiliario inseguro, documentar pintura, delimitar pisos y plafones, contener y señalizar plomería cuando seguro.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33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7" name="Shape 33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FUENTE: Los tres PDFs aportados por el usuario.</a:t>
            </a:r>
          </a:p>
          <a:p>
            <a:pPr/>
          </a:p>
          <a:p>
            <a:pPr/>
            <a:r>
              <a:t>Criterio editorial: para responsabilidades de aprobación y criticidad se utiliza el detalle del procedimiento formal frente a resúmenes discrepantes del PDF VNA. Guía rápida indica evidencia opcional y formal permite envío sin evidencia disponible. No se crean SLAs, canales de escalación, puntajes de certificación, firmas de cierre ni permisos de edición posterior. Las actividades, ejemplos simulados, tiempos sugeridos y checklist son recursos didácticos. Documento de uso interno para capacitación.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el título"/>
          <p:cNvSpPr txBox="1"/>
          <p:nvPr>
            <p:ph type="title"/>
          </p:nvPr>
        </p:nvSpPr>
        <p:spPr>
          <a:xfrm>
            <a:off x="914400" y="1844675"/>
            <a:ext cx="10363200" cy="2041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Texto del título</a:t>
            </a:r>
          </a:p>
        </p:txBody>
      </p:sp>
      <p:sp>
        <p:nvSpPr>
          <p:cNvPr id="3" name="Nivel de texto 1…"/>
          <p:cNvSpPr txBox="1"/>
          <p:nvPr>
            <p:ph type="body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" name="Número de diapositiva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ERTIFICACIÓN DE GERENTES REGIONALES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0A8D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CERTIFICACIÓN DE GERENTES REGIONALES</a:t>
            </a:r>
          </a:p>
        </p:txBody>
      </p:sp>
      <p:sp>
        <p:nvSpPr>
          <p:cNvPr id="21" name="Tickets de mantenimiento…"/>
          <p:cNvSpPr txBox="1"/>
          <p:nvPr/>
        </p:nvSpPr>
        <p:spPr>
          <a:xfrm>
            <a:off x="655319" y="781050"/>
            <a:ext cx="10881362" cy="1471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45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Tickets de mantenimiento</a:t>
            </a:r>
          </a:p>
          <a:p>
            <a:pPr>
              <a:defRPr b="1" sz="45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en UpKeep</a:t>
            </a:r>
          </a:p>
        </p:txBody>
      </p:sp>
      <p:sp>
        <p:nvSpPr>
          <p:cNvPr id="22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BAC8D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23" name="01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0A8D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4" name="Supervisión del proceso en Agencias VENTO"/>
          <p:cNvSpPr txBox="1"/>
          <p:nvPr/>
        </p:nvSpPr>
        <p:spPr>
          <a:xfrm>
            <a:off x="655319" y="2781300"/>
            <a:ext cx="10005062" cy="438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300">
                <a:solidFill>
                  <a:srgbClr val="C4D1E1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Supervisión del proceso en Agencias VENTO</a:t>
            </a:r>
          </a:p>
        </p:txBody>
      </p:sp>
      <p:sp>
        <p:nvSpPr>
          <p:cNvPr id="25" name="Del hallazgo al seguimiento de la atención"/>
          <p:cNvSpPr txBox="1"/>
          <p:nvPr/>
        </p:nvSpPr>
        <p:spPr>
          <a:xfrm>
            <a:off x="655319" y="3905250"/>
            <a:ext cx="8957312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Del hallazgo al seguimiento de la atención</a:t>
            </a:r>
          </a:p>
        </p:txBody>
      </p:sp>
      <p:pic>
        <p:nvPicPr>
          <p:cNvPr id="26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620250" y="5116945"/>
            <a:ext cx="1809750" cy="5484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APACITACIÓN REGIONAL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CAPACITACIÓN REGIONAL</a:t>
            </a:r>
          </a:p>
        </p:txBody>
      </p:sp>
      <p:sp>
        <p:nvSpPr>
          <p:cNvPr id="31" name="Lo que debe demostrar el Regional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Lo que debe demostrar el Regional</a:t>
            </a:r>
          </a:p>
        </p:txBody>
      </p:sp>
      <p:sp>
        <p:nvSpPr>
          <p:cNvPr id="32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33" name="02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4" name="Supervisión"/>
          <p:cNvSpPr txBox="1"/>
          <p:nvPr/>
        </p:nvSpPr>
        <p:spPr>
          <a:xfrm>
            <a:off x="655319" y="2057400"/>
            <a:ext cx="2308862" cy="42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Supervisión</a:t>
            </a:r>
          </a:p>
        </p:txBody>
      </p:sp>
      <p:sp>
        <p:nvSpPr>
          <p:cNvPr id="35" name="Identificar si el proceso cumple los criterios del procedimiento."/>
          <p:cNvSpPr txBox="1"/>
          <p:nvPr/>
        </p:nvSpPr>
        <p:spPr>
          <a:xfrm>
            <a:off x="655319" y="2724150"/>
            <a:ext cx="2308862" cy="1303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Identificar si el proceso cumple los criterios del procedimiento.</a:t>
            </a:r>
          </a:p>
        </p:txBody>
      </p:sp>
      <p:sp>
        <p:nvSpPr>
          <p:cNvPr id="36" name="Validación"/>
          <p:cNvSpPr txBox="1"/>
          <p:nvPr/>
        </p:nvSpPr>
        <p:spPr>
          <a:xfrm>
            <a:off x="3398519" y="2057400"/>
            <a:ext cx="2308862" cy="42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Validación</a:t>
            </a:r>
          </a:p>
        </p:txBody>
      </p:sp>
      <p:sp>
        <p:nvSpPr>
          <p:cNvPr id="37" name="Reconocer recurrencias, desviaciones y necesidades de atención prioritaria."/>
          <p:cNvSpPr txBox="1"/>
          <p:nvPr/>
        </p:nvSpPr>
        <p:spPr>
          <a:xfrm>
            <a:off x="3398519" y="2724150"/>
            <a:ext cx="2308862" cy="1608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Reconocer recurrencias, desviaciones y necesidades de atención prioritaria.</a:t>
            </a:r>
          </a:p>
        </p:txBody>
      </p:sp>
      <p:sp>
        <p:nvSpPr>
          <p:cNvPr id="38" name="Seguimiento"/>
          <p:cNvSpPr txBox="1"/>
          <p:nvPr/>
        </p:nvSpPr>
        <p:spPr>
          <a:xfrm>
            <a:off x="6141719" y="2057400"/>
            <a:ext cx="2308862" cy="42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Seguimiento</a:t>
            </a:r>
          </a:p>
        </p:txBody>
      </p:sp>
      <p:sp>
        <p:nvSpPr>
          <p:cNvPr id="39" name="Asegurar que la Agencia consulte el avance y dé seguimiento oportuno."/>
          <p:cNvSpPr txBox="1"/>
          <p:nvPr/>
        </p:nvSpPr>
        <p:spPr>
          <a:xfrm>
            <a:off x="6141719" y="2724150"/>
            <a:ext cx="2308862" cy="1608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Asegurar que la Agencia consulte el avance y dé seguimiento oportuno.</a:t>
            </a:r>
          </a:p>
        </p:txBody>
      </p:sp>
      <p:sp>
        <p:nvSpPr>
          <p:cNvPr id="40" name="Escalación"/>
          <p:cNvSpPr txBox="1"/>
          <p:nvPr/>
        </p:nvSpPr>
        <p:spPr>
          <a:xfrm>
            <a:off x="8884919" y="2057400"/>
            <a:ext cx="2308862" cy="42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Escalación</a:t>
            </a:r>
          </a:p>
        </p:txBody>
      </p:sp>
      <p:sp>
        <p:nvSpPr>
          <p:cNvPr id="41" name="Identificar casos que requieren atención prioritaria por impacto, urgencia o recurrencia."/>
          <p:cNvSpPr txBox="1"/>
          <p:nvPr/>
        </p:nvSpPr>
        <p:spPr>
          <a:xfrm>
            <a:off x="8884919" y="2724150"/>
            <a:ext cx="2308862" cy="1913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Identificar casos que requieren atención prioritaria por impacto, urgencia o recurrencia.</a:t>
            </a:r>
          </a:p>
        </p:txBody>
      </p:sp>
      <p:sp>
        <p:nvSpPr>
          <p:cNvPr id="42" name="La práctica evaluará decisiones y calidad del registro."/>
          <p:cNvSpPr txBox="1"/>
          <p:nvPr/>
        </p:nvSpPr>
        <p:spPr>
          <a:xfrm>
            <a:off x="655319" y="5753100"/>
            <a:ext cx="10881362" cy="314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La práctica evaluará decisiones y calidad del registro.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APACITACIÓN REGIONAL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CAPACITACIÓN REGIONAL</a:t>
            </a:r>
          </a:p>
        </p:txBody>
      </p:sp>
      <p:sp>
        <p:nvSpPr>
          <p:cNvPr id="47" name="Flujo de gestión del mantenimiento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Flujo de gestión del mantenimiento</a:t>
            </a:r>
          </a:p>
        </p:txBody>
      </p:sp>
      <p:sp>
        <p:nvSpPr>
          <p:cNvPr id="48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49" name="03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50" name="Rectángulo"/>
          <p:cNvSpPr/>
          <p:nvPr/>
        </p:nvSpPr>
        <p:spPr>
          <a:xfrm>
            <a:off x="609600" y="2114550"/>
            <a:ext cx="2400300" cy="1666875"/>
          </a:xfrm>
          <a:prstGeom prst="rect">
            <a:avLst/>
          </a:prstGeom>
          <a:solidFill>
            <a:srgbClr val="EEF3F9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1" name="1  Detectar"/>
          <p:cNvSpPr txBox="1"/>
          <p:nvPr/>
        </p:nvSpPr>
        <p:spPr>
          <a:xfrm>
            <a:off x="788669" y="2228850"/>
            <a:ext cx="2042162" cy="376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  Detectar</a:t>
            </a:r>
          </a:p>
        </p:txBody>
      </p:sp>
      <p:sp>
        <p:nvSpPr>
          <p:cNvPr id="52" name="Agencia identifica la condición."/>
          <p:cNvSpPr txBox="1"/>
          <p:nvPr/>
        </p:nvSpPr>
        <p:spPr>
          <a:xfrm>
            <a:off x="788669" y="2933700"/>
            <a:ext cx="2042162" cy="51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Agencia identifica la condición.</a:t>
            </a:r>
          </a:p>
        </p:txBody>
      </p:sp>
      <p:sp>
        <p:nvSpPr>
          <p:cNvPr id="53" name="Flecha"/>
          <p:cNvSpPr/>
          <p:nvPr/>
        </p:nvSpPr>
        <p:spPr>
          <a:xfrm>
            <a:off x="3067050" y="2819400"/>
            <a:ext cx="3048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0A8D8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4" name="Rectángulo"/>
          <p:cNvSpPr/>
          <p:nvPr/>
        </p:nvSpPr>
        <p:spPr>
          <a:xfrm>
            <a:off x="3429000" y="2114550"/>
            <a:ext cx="2400300" cy="1666875"/>
          </a:xfrm>
          <a:prstGeom prst="rect">
            <a:avLst/>
          </a:prstGeom>
          <a:solidFill>
            <a:srgbClr val="EEF3F9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5" name="2  Validar procedencia"/>
          <p:cNvSpPr txBox="1"/>
          <p:nvPr/>
        </p:nvSpPr>
        <p:spPr>
          <a:xfrm>
            <a:off x="3608069" y="2228850"/>
            <a:ext cx="2042162" cy="6690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2  Validar procedencia</a:t>
            </a:r>
          </a:p>
        </p:txBody>
      </p:sp>
      <p:sp>
        <p:nvSpPr>
          <p:cNvPr id="56" name="Comparación con la matriz."/>
          <p:cNvSpPr txBox="1"/>
          <p:nvPr/>
        </p:nvSpPr>
        <p:spPr>
          <a:xfrm>
            <a:off x="3608069" y="2933700"/>
            <a:ext cx="2042162" cy="51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Comparación con la matriz.</a:t>
            </a:r>
          </a:p>
        </p:txBody>
      </p:sp>
      <p:sp>
        <p:nvSpPr>
          <p:cNvPr id="57" name="Flecha"/>
          <p:cNvSpPr/>
          <p:nvPr/>
        </p:nvSpPr>
        <p:spPr>
          <a:xfrm>
            <a:off x="5886450" y="2819400"/>
            <a:ext cx="3048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0A8D8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8" name="Rectángulo"/>
          <p:cNvSpPr/>
          <p:nvPr/>
        </p:nvSpPr>
        <p:spPr>
          <a:xfrm>
            <a:off x="6248400" y="2114550"/>
            <a:ext cx="2400300" cy="1666875"/>
          </a:xfrm>
          <a:prstGeom prst="rect">
            <a:avLst/>
          </a:prstGeom>
          <a:solidFill>
            <a:srgbClr val="EEF3F9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9" name="3  Contener"/>
          <p:cNvSpPr txBox="1"/>
          <p:nvPr/>
        </p:nvSpPr>
        <p:spPr>
          <a:xfrm>
            <a:off x="6427469" y="2228850"/>
            <a:ext cx="2042162" cy="376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3  Contener</a:t>
            </a:r>
          </a:p>
        </p:txBody>
      </p:sp>
      <p:sp>
        <p:nvSpPr>
          <p:cNvPr id="60" name="Medidas preventivas seguras."/>
          <p:cNvSpPr txBox="1"/>
          <p:nvPr/>
        </p:nvSpPr>
        <p:spPr>
          <a:xfrm>
            <a:off x="6427469" y="2933700"/>
            <a:ext cx="2042162" cy="51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Medidas preventivas seguras.</a:t>
            </a:r>
          </a:p>
        </p:txBody>
      </p:sp>
      <p:sp>
        <p:nvSpPr>
          <p:cNvPr id="61" name="Flecha"/>
          <p:cNvSpPr/>
          <p:nvPr/>
        </p:nvSpPr>
        <p:spPr>
          <a:xfrm>
            <a:off x="8705850" y="2819400"/>
            <a:ext cx="3048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0A8D8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2" name="Rectángulo"/>
          <p:cNvSpPr/>
          <p:nvPr/>
        </p:nvSpPr>
        <p:spPr>
          <a:xfrm>
            <a:off x="9067800" y="2114550"/>
            <a:ext cx="2400300" cy="1666875"/>
          </a:xfrm>
          <a:prstGeom prst="rect">
            <a:avLst/>
          </a:prstGeom>
          <a:solidFill>
            <a:srgbClr val="EEF3F9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3" name="4  Registrar"/>
          <p:cNvSpPr txBox="1"/>
          <p:nvPr/>
        </p:nvSpPr>
        <p:spPr>
          <a:xfrm>
            <a:off x="9246869" y="2228850"/>
            <a:ext cx="2042162" cy="376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4  Registrar</a:t>
            </a:r>
          </a:p>
        </p:txBody>
      </p:sp>
      <p:sp>
        <p:nvSpPr>
          <p:cNvPr id="64" name="Descripción y campos correctos."/>
          <p:cNvSpPr txBox="1"/>
          <p:nvPr/>
        </p:nvSpPr>
        <p:spPr>
          <a:xfrm>
            <a:off x="9246869" y="2933700"/>
            <a:ext cx="2042162" cy="51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Descripción y campos correctos.</a:t>
            </a:r>
          </a:p>
        </p:txBody>
      </p:sp>
      <p:sp>
        <p:nvSpPr>
          <p:cNvPr id="65" name="Figura"/>
          <p:cNvSpPr/>
          <p:nvPr/>
        </p:nvSpPr>
        <p:spPr>
          <a:xfrm>
            <a:off x="10163175" y="3781425"/>
            <a:ext cx="228601" cy="266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2343"/>
                </a:moveTo>
                <a:lnTo>
                  <a:pt x="5400" y="12343"/>
                </a:lnTo>
                <a:lnTo>
                  <a:pt x="5400" y="0"/>
                </a:lnTo>
                <a:lnTo>
                  <a:pt x="16200" y="0"/>
                </a:lnTo>
                <a:lnTo>
                  <a:pt x="16200" y="12343"/>
                </a:lnTo>
                <a:lnTo>
                  <a:pt x="21600" y="12343"/>
                </a:lnTo>
                <a:lnTo>
                  <a:pt x="10800" y="21600"/>
                </a:lnTo>
                <a:close/>
              </a:path>
            </a:pathLst>
          </a:custGeom>
          <a:solidFill>
            <a:srgbClr val="20A8D8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6" name="Rectángulo"/>
          <p:cNvSpPr/>
          <p:nvPr/>
        </p:nvSpPr>
        <p:spPr>
          <a:xfrm>
            <a:off x="9067800" y="4048125"/>
            <a:ext cx="2400300" cy="1666875"/>
          </a:xfrm>
          <a:prstGeom prst="rect">
            <a:avLst/>
          </a:prstGeom>
          <a:solidFill>
            <a:srgbClr val="EEF3F9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7" name="5  Validar solicitud"/>
          <p:cNvSpPr txBox="1"/>
          <p:nvPr/>
        </p:nvSpPr>
        <p:spPr>
          <a:xfrm>
            <a:off x="9246869" y="4162425"/>
            <a:ext cx="2042162" cy="6690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5  Validar solicitud</a:t>
            </a:r>
          </a:p>
        </p:txBody>
      </p:sp>
      <p:sp>
        <p:nvSpPr>
          <p:cNvPr id="68" name="Mantenimiento aprueba, rechaza o pide información."/>
          <p:cNvSpPr txBox="1"/>
          <p:nvPr/>
        </p:nvSpPr>
        <p:spPr>
          <a:xfrm>
            <a:off x="9246869" y="4867275"/>
            <a:ext cx="2042162" cy="733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Mantenimiento aprueba, rechaza o pide información.</a:t>
            </a:r>
          </a:p>
        </p:txBody>
      </p:sp>
      <p:sp>
        <p:nvSpPr>
          <p:cNvPr id="69" name="Flecha"/>
          <p:cNvSpPr/>
          <p:nvPr/>
        </p:nvSpPr>
        <p:spPr>
          <a:xfrm>
            <a:off x="8705850" y="4752975"/>
            <a:ext cx="304800" cy="2286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20A8D8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0" name="Rectángulo"/>
          <p:cNvSpPr/>
          <p:nvPr/>
        </p:nvSpPr>
        <p:spPr>
          <a:xfrm>
            <a:off x="6248400" y="4048125"/>
            <a:ext cx="2400300" cy="1666875"/>
          </a:xfrm>
          <a:prstGeom prst="rect">
            <a:avLst/>
          </a:prstGeom>
          <a:solidFill>
            <a:srgbClr val="EEF3F9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1" name="6  Dar seguimiento"/>
          <p:cNvSpPr txBox="1"/>
          <p:nvPr/>
        </p:nvSpPr>
        <p:spPr>
          <a:xfrm>
            <a:off x="6427469" y="4162425"/>
            <a:ext cx="2042162" cy="6690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6  Dar seguimiento</a:t>
            </a:r>
          </a:p>
        </p:txBody>
      </p:sp>
      <p:sp>
        <p:nvSpPr>
          <p:cNvPr id="72" name="Agencia consulta estatus y atención."/>
          <p:cNvSpPr txBox="1"/>
          <p:nvPr/>
        </p:nvSpPr>
        <p:spPr>
          <a:xfrm>
            <a:off x="6427469" y="4867275"/>
            <a:ext cx="2042162" cy="51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Agencia consulta estatus y atención.</a:t>
            </a:r>
          </a:p>
        </p:txBody>
      </p:sp>
      <p:sp>
        <p:nvSpPr>
          <p:cNvPr id="73" name="Flecha"/>
          <p:cNvSpPr/>
          <p:nvPr/>
        </p:nvSpPr>
        <p:spPr>
          <a:xfrm>
            <a:off x="5886450" y="4752975"/>
            <a:ext cx="304800" cy="2286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20A8D8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4" name="Rectángulo"/>
          <p:cNvSpPr/>
          <p:nvPr/>
        </p:nvSpPr>
        <p:spPr>
          <a:xfrm>
            <a:off x="3429000" y="4048125"/>
            <a:ext cx="2400300" cy="1666875"/>
          </a:xfrm>
          <a:prstGeom prst="rect">
            <a:avLst/>
          </a:prstGeom>
          <a:solidFill>
            <a:srgbClr val="EEF3F9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5" name="7  Escalar si aplica"/>
          <p:cNvSpPr txBox="1"/>
          <p:nvPr/>
        </p:nvSpPr>
        <p:spPr>
          <a:xfrm>
            <a:off x="3608069" y="4162425"/>
            <a:ext cx="2042162" cy="6690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7  Escalar si aplica</a:t>
            </a:r>
          </a:p>
        </p:txBody>
      </p:sp>
      <p:sp>
        <p:nvSpPr>
          <p:cNvPr id="76" name="Regional: impacto, urgencia o recurrencia."/>
          <p:cNvSpPr txBox="1"/>
          <p:nvPr/>
        </p:nvSpPr>
        <p:spPr>
          <a:xfrm>
            <a:off x="3608069" y="4867275"/>
            <a:ext cx="2042162" cy="51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Regional: impacto, urgencia o recurrencia.</a:t>
            </a:r>
          </a:p>
        </p:txBody>
      </p:sp>
      <p:sp>
        <p:nvSpPr>
          <p:cNvPr id="77" name="Flecha"/>
          <p:cNvSpPr/>
          <p:nvPr/>
        </p:nvSpPr>
        <p:spPr>
          <a:xfrm>
            <a:off x="3067050" y="4752975"/>
            <a:ext cx="304800" cy="2286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20A8D8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8" name="Rectángulo"/>
          <p:cNvSpPr/>
          <p:nvPr/>
        </p:nvSpPr>
        <p:spPr>
          <a:xfrm>
            <a:off x="609600" y="4048125"/>
            <a:ext cx="2400300" cy="1666875"/>
          </a:xfrm>
          <a:prstGeom prst="rect">
            <a:avLst/>
          </a:prstGeom>
          <a:solidFill>
            <a:srgbClr val="EEF3F9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9" name="8  Verificar atención"/>
          <p:cNvSpPr txBox="1"/>
          <p:nvPr/>
        </p:nvSpPr>
        <p:spPr>
          <a:xfrm>
            <a:off x="788669" y="4162425"/>
            <a:ext cx="2042162" cy="6690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8  Verificar atención</a:t>
            </a:r>
          </a:p>
        </p:txBody>
      </p:sp>
      <p:sp>
        <p:nvSpPr>
          <p:cNvPr id="80" name="Seguimiento hasta atención o cierre."/>
          <p:cNvSpPr txBox="1"/>
          <p:nvPr/>
        </p:nvSpPr>
        <p:spPr>
          <a:xfrm>
            <a:off x="788669" y="4867275"/>
            <a:ext cx="2042162" cy="51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Seguimiento hasta atención o cierre.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APACITACIÓN REGIONAL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CAPACITACIÓN REGIONAL</a:t>
            </a:r>
          </a:p>
        </p:txBody>
      </p:sp>
      <p:sp>
        <p:nvSpPr>
          <p:cNvPr id="85" name="Responsabilidades en cada punto de control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Responsabilidades en cada punto de control</a:t>
            </a:r>
          </a:p>
        </p:txBody>
      </p:sp>
      <p:sp>
        <p:nvSpPr>
          <p:cNvPr id="86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87" name="04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graphicFrame>
        <p:nvGraphicFramePr>
          <p:cNvPr id="88" name="Tabla 1"/>
          <p:cNvGraphicFramePr/>
          <p:nvPr/>
        </p:nvGraphicFramePr>
        <p:xfrm>
          <a:off x="609600" y="2000250"/>
          <a:ext cx="10972800" cy="366712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524125"/>
                <a:gridCol w="4667250"/>
                <a:gridCol w="3781425"/>
              </a:tblGrid>
              <a:tr h="7334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Responsable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Qué realiza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7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Qué supervisa el Regional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Gerente de Agencia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Valida necesidad y captura. Sigue la atención y coordina en sitio.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Procedencia, información suficiente y seguimiento oportuno.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Gerente Regional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Supervisa el proceso. Valida desviaciones y escala cuando aplica.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Cumplimiento en las Agencias de su región.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Coordinador local / foráneo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Valida. Aprueba o rechaza. Solicita información y prioriza órdenes.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Que la Agencia atienda las validaciones requeridas.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Gerente de Mantenimiento Jr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Revisa casos escalados o que requieren criterio adicional.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7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Que el caso cuente con elementos para su revisión.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APACITACIÓN REGIONAL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CAPACITACIÓN REGIONAL</a:t>
            </a:r>
          </a:p>
        </p:txBody>
      </p:sp>
      <p:sp>
        <p:nvSpPr>
          <p:cNvPr id="93" name="Decisión previa al registro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Decisión previa al registro</a:t>
            </a:r>
          </a:p>
        </p:txBody>
      </p:sp>
      <p:sp>
        <p:nvSpPr>
          <p:cNvPr id="94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95" name="05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96" name="Rectángulo"/>
          <p:cNvSpPr/>
          <p:nvPr/>
        </p:nvSpPr>
        <p:spPr>
          <a:xfrm>
            <a:off x="609600" y="2047875"/>
            <a:ext cx="2571750" cy="1666875"/>
          </a:xfrm>
          <a:prstGeom prst="rect">
            <a:avLst/>
          </a:prstGeom>
          <a:solidFill>
            <a:srgbClr val="EEF3F9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7" name="Hallazgo"/>
          <p:cNvSpPr txBox="1"/>
          <p:nvPr/>
        </p:nvSpPr>
        <p:spPr>
          <a:xfrm>
            <a:off x="788669" y="2162175"/>
            <a:ext cx="2213612" cy="376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Hallazgo</a:t>
            </a:r>
          </a:p>
        </p:txBody>
      </p:sp>
      <p:sp>
        <p:nvSpPr>
          <p:cNvPr id="98" name="Instalación, mobiliario o equipo."/>
          <p:cNvSpPr txBox="1"/>
          <p:nvPr/>
        </p:nvSpPr>
        <p:spPr>
          <a:xfrm>
            <a:off x="788669" y="2867025"/>
            <a:ext cx="2213612" cy="51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Instalación, mobiliario o equipo.</a:t>
            </a:r>
          </a:p>
        </p:txBody>
      </p:sp>
      <p:sp>
        <p:nvSpPr>
          <p:cNvPr id="99" name="Flecha"/>
          <p:cNvSpPr/>
          <p:nvPr/>
        </p:nvSpPr>
        <p:spPr>
          <a:xfrm>
            <a:off x="3276600" y="2771775"/>
            <a:ext cx="3810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0A8D8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0" name="Rectángulo"/>
          <p:cNvSpPr/>
          <p:nvPr/>
        </p:nvSpPr>
        <p:spPr>
          <a:xfrm>
            <a:off x="3771900" y="2047875"/>
            <a:ext cx="2952750" cy="1666875"/>
          </a:xfrm>
          <a:prstGeom prst="rect">
            <a:avLst/>
          </a:prstGeom>
          <a:solidFill>
            <a:srgbClr val="EEF3F9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1" name="Comparación"/>
          <p:cNvSpPr txBox="1"/>
          <p:nvPr/>
        </p:nvSpPr>
        <p:spPr>
          <a:xfrm>
            <a:off x="3950969" y="2162175"/>
            <a:ext cx="2594612" cy="376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Comparación</a:t>
            </a:r>
          </a:p>
        </p:txBody>
      </p:sp>
      <p:sp>
        <p:nvSpPr>
          <p:cNvPr id="102" name="Matriz y necesidad real de mantenimiento."/>
          <p:cNvSpPr txBox="1"/>
          <p:nvPr/>
        </p:nvSpPr>
        <p:spPr>
          <a:xfrm>
            <a:off x="3950969" y="2867025"/>
            <a:ext cx="2594612" cy="51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Matriz y necesidad real de mantenimiento.</a:t>
            </a:r>
          </a:p>
        </p:txBody>
      </p:sp>
      <p:sp>
        <p:nvSpPr>
          <p:cNvPr id="103" name="Flecha"/>
          <p:cNvSpPr/>
          <p:nvPr/>
        </p:nvSpPr>
        <p:spPr>
          <a:xfrm>
            <a:off x="6819900" y="2771775"/>
            <a:ext cx="3810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0A8D8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4" name="Rectángulo"/>
          <p:cNvSpPr/>
          <p:nvPr/>
        </p:nvSpPr>
        <p:spPr>
          <a:xfrm>
            <a:off x="7334250" y="2047875"/>
            <a:ext cx="4000500" cy="1666875"/>
          </a:xfrm>
          <a:prstGeom prst="rect">
            <a:avLst/>
          </a:prstGeom>
          <a:solidFill>
            <a:srgbClr val="EEF3F9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5" name="¿Corresponde?"/>
          <p:cNvSpPr txBox="1"/>
          <p:nvPr/>
        </p:nvSpPr>
        <p:spPr>
          <a:xfrm>
            <a:off x="7513319" y="2162175"/>
            <a:ext cx="3642362" cy="376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¿Corresponde?</a:t>
            </a:r>
          </a:p>
        </p:txBody>
      </p:sp>
      <p:sp>
        <p:nvSpPr>
          <p:cNvPr id="106" name="Afectación real o potencial dentro del alcance."/>
          <p:cNvSpPr txBox="1"/>
          <p:nvPr/>
        </p:nvSpPr>
        <p:spPr>
          <a:xfrm>
            <a:off x="7513319" y="2867025"/>
            <a:ext cx="3642362" cy="51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Afectación real o potencial dentro del alcance.</a:t>
            </a:r>
          </a:p>
        </p:txBody>
      </p:sp>
      <p:sp>
        <p:nvSpPr>
          <p:cNvPr id="107" name="PROCEDE"/>
          <p:cNvSpPr txBox="1"/>
          <p:nvPr/>
        </p:nvSpPr>
        <p:spPr>
          <a:xfrm>
            <a:off x="3817619" y="3962400"/>
            <a:ext cx="2766062" cy="413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187B55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PROCEDE</a:t>
            </a:r>
          </a:p>
        </p:txBody>
      </p:sp>
      <p:sp>
        <p:nvSpPr>
          <p:cNvPr id="108" name="Condición no aceptable: contención y ticket."/>
          <p:cNvSpPr txBox="1"/>
          <p:nvPr/>
        </p:nvSpPr>
        <p:spPr>
          <a:xfrm>
            <a:off x="3817619" y="4419600"/>
            <a:ext cx="3242312" cy="643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Condición no aceptable: contención y ticket.</a:t>
            </a:r>
          </a:p>
        </p:txBody>
      </p:sp>
      <p:sp>
        <p:nvSpPr>
          <p:cNvPr id="109" name="NO CORRESPONDE"/>
          <p:cNvSpPr txBox="1"/>
          <p:nvPr/>
        </p:nvSpPr>
        <p:spPr>
          <a:xfrm>
            <a:off x="7875269" y="3962400"/>
            <a:ext cx="3432812" cy="413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B6303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NO CORRESPONDE</a:t>
            </a:r>
          </a:p>
        </p:txBody>
      </p:sp>
      <p:sp>
        <p:nvSpPr>
          <p:cNvPr id="110" name="Condición aceptable o solicitud ajena al alcance: no registrar por este proceso."/>
          <p:cNvSpPr txBox="1"/>
          <p:nvPr/>
        </p:nvSpPr>
        <p:spPr>
          <a:xfrm>
            <a:off x="7875269" y="4419600"/>
            <a:ext cx="3337562" cy="923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Condición aceptable o solicitud ajena al alcance: no registrar por este proceso.</a:t>
            </a:r>
          </a:p>
        </p:txBody>
      </p:sp>
      <p:sp>
        <p:nvSpPr>
          <p:cNvPr id="111" name="La matriz orienta la decisión inicial. Mantenimiento conserva la validación de la solicitud."/>
          <p:cNvSpPr txBox="1"/>
          <p:nvPr/>
        </p:nvSpPr>
        <p:spPr>
          <a:xfrm>
            <a:off x="655319" y="5753100"/>
            <a:ext cx="10881362" cy="314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La matriz orienta la decisión inicial. Mantenimiento conserva la validación de la solicitud.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APACITACIÓN REGIONAL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CAPACITACIÓN REGIONAL</a:t>
            </a:r>
          </a:p>
        </p:txBody>
      </p:sp>
      <p:sp>
        <p:nvSpPr>
          <p:cNvPr id="116" name="Matriz de referencia para decidir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Matriz de referencia para decidir</a:t>
            </a:r>
          </a:p>
        </p:txBody>
      </p:sp>
      <p:sp>
        <p:nvSpPr>
          <p:cNvPr id="117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118" name="06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graphicFrame>
        <p:nvGraphicFramePr>
          <p:cNvPr id="119" name="Tabla 1"/>
          <p:cNvGraphicFramePr/>
          <p:nvPr/>
        </p:nvGraphicFramePr>
        <p:xfrm>
          <a:off x="609600" y="2000250"/>
          <a:ext cx="10972800" cy="3429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524125"/>
                <a:gridCol w="5619750"/>
                <a:gridCol w="2828925"/>
              </a:tblGrid>
              <a:tr h="571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Grupo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Cuándo procede ticket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Criticidad sugerida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Electricidad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Cableado expuesto, contactos con falla o luminarias fundidas.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Crítica / Alta / Media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Extintores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Descargado, faltante, dañado o con vigencia vencida.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Crítica / Alta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Impermeabilización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Filtraciones, goteras o falla de sellado.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Crítica / Alta / Media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Pisos y plafones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Losetas rotas, riesgo de tropiezo o de desprendimiento.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Alta / Media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Branding y mobiliario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Lona rota o desprendida. Mobiliario con daño funcional.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Media / Baja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120" name="Los rangos de la matriz son referencia. La prioridad del formulario permanece automática."/>
          <p:cNvSpPr txBox="1"/>
          <p:nvPr/>
        </p:nvSpPr>
        <p:spPr>
          <a:xfrm>
            <a:off x="655319" y="5753100"/>
            <a:ext cx="10881362" cy="314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Los rangos de la matriz son referencia. La prioridad del formulario permanece automática.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APACITACIÓN REGIONAL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CAPACITACIÓN REGIONAL</a:t>
            </a:r>
          </a:p>
        </p:txBody>
      </p:sp>
      <p:sp>
        <p:nvSpPr>
          <p:cNvPr id="125" name="Condición aceptable y condición reportable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Condición aceptable y condición reportable</a:t>
            </a:r>
          </a:p>
        </p:txBody>
      </p:sp>
      <p:sp>
        <p:nvSpPr>
          <p:cNvPr id="126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127" name="07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28" name="ACEPTABLE"/>
          <p:cNvSpPr txBox="1"/>
          <p:nvPr/>
        </p:nvSpPr>
        <p:spPr>
          <a:xfrm>
            <a:off x="655319" y="1914525"/>
            <a:ext cx="4861562" cy="413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187B55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ACEPTABLE</a:t>
            </a:r>
          </a:p>
        </p:txBody>
      </p:sp>
      <p:sp>
        <p:nvSpPr>
          <p:cNvPr id="129" name="NO ACEPTABLE"/>
          <p:cNvSpPr txBox="1"/>
          <p:nvPr/>
        </p:nvSpPr>
        <p:spPr>
          <a:xfrm>
            <a:off x="6389369" y="1914525"/>
            <a:ext cx="4861562" cy="413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B6303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NO ACEPTABLE</a:t>
            </a:r>
          </a:p>
        </p:txBody>
      </p:sp>
      <p:pic>
        <p:nvPicPr>
          <p:cNvPr id="130" name="image.jpeg" descr="image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93326" y="2476500"/>
            <a:ext cx="1785549" cy="3143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image2.jpeg" descr="image2.jpe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31400" y="2476500"/>
            <a:ext cx="1977502" cy="3143250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Referencia visual de plomería"/>
          <p:cNvSpPr txBox="1"/>
          <p:nvPr/>
        </p:nvSpPr>
        <p:spPr>
          <a:xfrm>
            <a:off x="655319" y="5734050"/>
            <a:ext cx="4861562" cy="364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Referencia visual de plomería</a:t>
            </a:r>
          </a:p>
        </p:txBody>
      </p:sp>
      <p:sp>
        <p:nvSpPr>
          <p:cNvPr id="133" name="Conexión de desagüe suelta"/>
          <p:cNvSpPr txBox="1"/>
          <p:nvPr/>
        </p:nvSpPr>
        <p:spPr>
          <a:xfrm>
            <a:off x="6389369" y="5734050"/>
            <a:ext cx="4861562" cy="364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Conexión de desagüe suelta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CAPACITACIÓN REGIONAL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CAPACITACIÓN REGIONAL</a:t>
            </a:r>
          </a:p>
        </p:txBody>
      </p:sp>
      <p:sp>
        <p:nvSpPr>
          <p:cNvPr id="138" name="Contención inicial según el riesgo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Contención inicial según el riesgo</a:t>
            </a:r>
          </a:p>
        </p:txBody>
      </p:sp>
      <p:sp>
        <p:nvSpPr>
          <p:cNvPr id="139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140" name="08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graphicFrame>
        <p:nvGraphicFramePr>
          <p:cNvPr id="141" name="Tabla 1"/>
          <p:cNvGraphicFramePr/>
          <p:nvPr/>
        </p:nvGraphicFramePr>
        <p:xfrm>
          <a:off x="609600" y="2000250"/>
          <a:ext cx="10972800" cy="333375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524250"/>
                <a:gridCol w="7448550"/>
              </a:tblGrid>
              <a:tr h="6667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9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Hallazgo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9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Acción inicial recomendada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9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Cableado expuesto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9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Suspender el uso del punto, delimitar y evitar manipulación.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9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Goteo o filtración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9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Contener si es seguro, proteger elementos cercanos y señalizar agua en piso.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9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Cortina o acceso con falla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9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Evitar forzar, restringir uso cuando exista riesgo y vigilar el área.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9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Plafón con riesgo de caída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9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Restringir el paso bajo el área y evitar manipular piezas sueltas.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La contención no sustituye el ticket ni autoriza reparaciones técnicas improvisadas."/>
          <p:cNvSpPr txBox="1"/>
          <p:nvPr/>
        </p:nvSpPr>
        <p:spPr>
          <a:xfrm>
            <a:off x="655319" y="5753100"/>
            <a:ext cx="10881362" cy="314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La contención no sustituye el ticket ni autoriza reparaciones técnicas improvisadas.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ACTIVIDAD  /  6 MINUTOS SUGERIDOS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ACTIVIDAD  /  6 MINUTOS SUGERIDOS</a:t>
            </a:r>
          </a:p>
        </p:txBody>
      </p:sp>
      <p:sp>
        <p:nvSpPr>
          <p:cNvPr id="147" name="Práctica 1: procedencia y contención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Práctica 1: procedencia y contención</a:t>
            </a:r>
          </a:p>
        </p:txBody>
      </p:sp>
      <p:sp>
        <p:nvSpPr>
          <p:cNvPr id="148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149" name="09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  <p:graphicFrame>
        <p:nvGraphicFramePr>
          <p:cNvPr id="150" name="Tabla 1"/>
          <p:cNvGraphicFramePr/>
          <p:nvPr/>
        </p:nvGraphicFramePr>
        <p:xfrm>
          <a:off x="609600" y="2000250"/>
          <a:ext cx="10972800" cy="28575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5905500"/>
                <a:gridCol w="5067300"/>
              </a:tblGrid>
              <a:tr h="7143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9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Caso simulado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9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Decisión a justificar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9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A  Contacto con cableado expuesto en caja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9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¿Procede? ¿Qué contención corresponde?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9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B  Lona firme y sin daño visible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9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¿Existe una necesidad correctiva reportable?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9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  Plafón desprendido sobre zona de paso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9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¿Qué debe validar y supervisar el Regional?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151" name="En parejas: responder con el criterio fuente y una medida inicial aplicable."/>
          <p:cNvSpPr txBox="1"/>
          <p:nvPr/>
        </p:nvSpPr>
        <p:spPr>
          <a:xfrm>
            <a:off x="655319" y="5753100"/>
            <a:ext cx="10881362" cy="314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En parejas: responder con el criterio fuente y una medida inicial aplicable.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APACITACIÓN REGIONAL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CAPACITACIÓN REGIONAL</a:t>
            </a:r>
          </a:p>
        </p:txBody>
      </p:sp>
      <p:sp>
        <p:nvSpPr>
          <p:cNvPr id="156" name="Acceso y descripción del problema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Acceso y descripción del problema</a:t>
            </a:r>
          </a:p>
        </p:txBody>
      </p:sp>
      <p:sp>
        <p:nvSpPr>
          <p:cNvPr id="157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158" name="10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  <p:pic>
        <p:nvPicPr>
          <p:cNvPr id="159" name="image2.png" descr="image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5217" y="2085975"/>
            <a:ext cx="6289567" cy="3714750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Portal autorizado"/>
          <p:cNvSpPr txBox="1"/>
          <p:nvPr/>
        </p:nvSpPr>
        <p:spPr>
          <a:xfrm>
            <a:off x="7494269" y="2019300"/>
            <a:ext cx="4004312" cy="413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Portal autorizado</a:t>
            </a:r>
          </a:p>
        </p:txBody>
      </p:sp>
      <p:sp>
        <p:nvSpPr>
          <p:cNvPr id="161" name="request-portal.onupkeep.com/…"/>
          <p:cNvSpPr txBox="1"/>
          <p:nvPr/>
        </p:nvSpPr>
        <p:spPr>
          <a:xfrm>
            <a:off x="7494269" y="2581275"/>
            <a:ext cx="4004312" cy="5933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7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request-portal.onupkeep.com/</a:t>
            </a:r>
          </a:p>
          <a:p>
            <a:pPr>
              <a:defRPr sz="17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vento-powersports</a:t>
            </a:r>
          </a:p>
        </p:txBody>
      </p:sp>
      <p:sp>
        <p:nvSpPr>
          <p:cNvPr id="162" name="Falla + elemento + ubicación"/>
          <p:cNvSpPr txBox="1"/>
          <p:nvPr/>
        </p:nvSpPr>
        <p:spPr>
          <a:xfrm>
            <a:off x="7494269" y="3600450"/>
            <a:ext cx="4004312" cy="413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Falla + elemento + ubicación</a:t>
            </a:r>
          </a:p>
        </p:txBody>
      </p:sp>
      <p:sp>
        <p:nvSpPr>
          <p:cNvPr id="163" name="Texto breve, sin ñ ni acentos.…"/>
          <p:cNvSpPr txBox="1"/>
          <p:nvPr/>
        </p:nvSpPr>
        <p:spPr>
          <a:xfrm>
            <a:off x="7494269" y="4419600"/>
            <a:ext cx="4004312" cy="69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Texto breve, sin ñ ni acentos.</a:t>
            </a:r>
          </a:p>
          <a:p>
            <a:pPr>
              <a:defRPr sz="20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Después: Next.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CAPACITACIÓN REGIONAL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CAPACITACIÓN REGIONAL</a:t>
            </a:r>
          </a:p>
        </p:txBody>
      </p:sp>
      <p:sp>
        <p:nvSpPr>
          <p:cNvPr id="168" name="Redacción correcta e incorrecta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Redacción correcta e incorrecta</a:t>
            </a:r>
          </a:p>
        </p:txBody>
      </p:sp>
      <p:sp>
        <p:nvSpPr>
          <p:cNvPr id="169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170" name="11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graphicFrame>
        <p:nvGraphicFramePr>
          <p:cNvPr id="171" name="Tabla 1"/>
          <p:cNvGraphicFramePr/>
          <p:nvPr/>
        </p:nvGraphicFramePr>
        <p:xfrm>
          <a:off x="609600" y="2000250"/>
          <a:ext cx="10972800" cy="333375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810000"/>
                <a:gridCol w="7162800"/>
              </a:tblGrid>
              <a:tr h="6667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Incorrecto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Correcto: condición observada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“No sirve”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“Aire acondicionado no enfria en area de ventas”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“Revisar techo”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“Filtracion de agua en techo de almacen”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“Arreglar esto”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“Contacto con falla en caja”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“Hay un problema”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“Cortina con falla en acceso principal”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2" name="El texto identifica la incidencia. No añade diagnósticos que la Agencia no ha confirmado."/>
          <p:cNvSpPr txBox="1"/>
          <p:nvPr/>
        </p:nvSpPr>
        <p:spPr>
          <a:xfrm>
            <a:off x="655319" y="5753100"/>
            <a:ext cx="10881362" cy="314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El texto identifica la incidencia. No añade diagnósticos que la Agencia no ha confirmado.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APACITACIÓN REGIONAL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CAPACITACIÓN REGIONAL</a:t>
            </a:r>
          </a:p>
        </p:txBody>
      </p:sp>
      <p:sp>
        <p:nvSpPr>
          <p:cNvPr id="177" name="Campos automáticos y campos a validar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Campos automáticos y campos a validar</a:t>
            </a:r>
          </a:p>
        </p:txBody>
      </p:sp>
      <p:sp>
        <p:nvSpPr>
          <p:cNvPr id="178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179" name="12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graphicFrame>
        <p:nvGraphicFramePr>
          <p:cNvPr id="180" name="Tabla 1"/>
          <p:cNvGraphicFramePr/>
          <p:nvPr/>
        </p:nvGraphicFramePr>
        <p:xfrm>
          <a:off x="609600" y="2000250"/>
          <a:ext cx="10972800" cy="338137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476625"/>
                <a:gridCol w="7496175"/>
              </a:tblGrid>
              <a:tr h="6762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Campo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Acción de la Agencia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Título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Revisión visual. No editar, sustituir ni corregir.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Prioridad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Confirmar que cargó. No cambiar, aunque el caso parezca urgente.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Ubicación asignada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Seleccionar la Agencia afectada y confirmar el nombre.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Categoría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Revisar y ajustar solo cuando no corresponda a la incidencia.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1" name="Si la descripción es correcta y el título no es preciso, puede continuar sin modificarlo."/>
          <p:cNvSpPr txBox="1"/>
          <p:nvPr/>
        </p:nvSpPr>
        <p:spPr>
          <a:xfrm>
            <a:off x="655319" y="5753100"/>
            <a:ext cx="10881362" cy="314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Si la descripción es correcta y el título no es preciso, puede continuar sin modificarlo.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APACITACIÓN REGIONAL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CAPACITACIÓN REGIONAL</a:t>
            </a:r>
          </a:p>
        </p:txBody>
      </p:sp>
      <p:sp>
        <p:nvSpPr>
          <p:cNvPr id="186" name="Ubicación y categoría en UpKeep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Ubicación y categoría en UpKeep</a:t>
            </a:r>
          </a:p>
        </p:txBody>
      </p:sp>
      <p:sp>
        <p:nvSpPr>
          <p:cNvPr id="187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188" name="13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pic>
        <p:nvPicPr>
          <p:cNvPr id="189" name="image3.png" descr="image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8985" y="2066925"/>
            <a:ext cx="5113481" cy="34766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image4.png" descr="image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021683" y="2143125"/>
            <a:ext cx="2854235" cy="2628900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La incidencia debe quedar en la Agencia correcta"/>
          <p:cNvSpPr txBox="1"/>
          <p:nvPr/>
        </p:nvSpPr>
        <p:spPr>
          <a:xfrm>
            <a:off x="655319" y="5610225"/>
            <a:ext cx="6480812" cy="376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La incidencia debe quedar en la Agencia correcta</a:t>
            </a:r>
          </a:p>
        </p:txBody>
      </p:sp>
      <p:sp>
        <p:nvSpPr>
          <p:cNvPr id="192" name="Ajuste solo si no coincide"/>
          <p:cNvSpPr txBox="1"/>
          <p:nvPr/>
        </p:nvSpPr>
        <p:spPr>
          <a:xfrm>
            <a:off x="7913369" y="5076825"/>
            <a:ext cx="3575687" cy="376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Ajuste solo si no coincide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CAPACITACIÓN REGIONAL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CAPACITACIÓN REGIONAL</a:t>
            </a:r>
          </a:p>
        </p:txBody>
      </p:sp>
      <p:sp>
        <p:nvSpPr>
          <p:cNvPr id="197" name="Contacto formal y evidencia útil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Contacto formal y evidencia útil</a:t>
            </a:r>
          </a:p>
        </p:txBody>
      </p:sp>
      <p:sp>
        <p:nvSpPr>
          <p:cNvPr id="198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199" name="14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14</a:t>
            </a:r>
          </a:p>
        </p:txBody>
      </p:sp>
      <p:pic>
        <p:nvPicPr>
          <p:cNvPr id="200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9600" y="2067823"/>
            <a:ext cx="6953250" cy="1674605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Captura de referencia: usar el correo de su Agencia"/>
          <p:cNvSpPr txBox="1"/>
          <p:nvPr/>
        </p:nvSpPr>
        <p:spPr>
          <a:xfrm>
            <a:off x="655319" y="3705225"/>
            <a:ext cx="6861812" cy="277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Captura de referencia: usar el correo de su Agencia</a:t>
            </a:r>
          </a:p>
        </p:txBody>
      </p:sp>
      <p:sp>
        <p:nvSpPr>
          <p:cNvPr id="202" name="Teléfono y correo de la Agencia"/>
          <p:cNvSpPr txBox="1"/>
          <p:nvPr/>
        </p:nvSpPr>
        <p:spPr>
          <a:xfrm>
            <a:off x="655319" y="4000500"/>
            <a:ext cx="6623687" cy="413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Teléfono y correo de la Agencia</a:t>
            </a:r>
          </a:p>
        </p:txBody>
      </p:sp>
      <p:sp>
        <p:nvSpPr>
          <p:cNvPr id="203" name="Nombre completo de quien levanta el ticket.…"/>
          <p:cNvSpPr txBox="1"/>
          <p:nvPr/>
        </p:nvSpPr>
        <p:spPr>
          <a:xfrm>
            <a:off x="655319" y="4543425"/>
            <a:ext cx="6576062" cy="718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1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Nombre completo de quien levanta el ticket.</a:t>
            </a:r>
          </a:p>
          <a:p>
            <a:pPr>
              <a:defRPr sz="21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Revisión de datos antes de avanzar.</a:t>
            </a:r>
          </a:p>
        </p:txBody>
      </p:sp>
      <p:sp>
        <p:nvSpPr>
          <p:cNvPr id="204" name="Evidencia"/>
          <p:cNvSpPr txBox="1"/>
          <p:nvPr/>
        </p:nvSpPr>
        <p:spPr>
          <a:xfrm>
            <a:off x="8189594" y="2047875"/>
            <a:ext cx="3242312" cy="438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3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Evidencia</a:t>
            </a:r>
          </a:p>
        </p:txBody>
      </p:sp>
      <p:sp>
        <p:nvSpPr>
          <p:cNvPr id="205" name="Actual y del caso.…"/>
          <p:cNvSpPr txBox="1"/>
          <p:nvPr/>
        </p:nvSpPr>
        <p:spPr>
          <a:xfrm>
            <a:off x="8189594" y="2714625"/>
            <a:ext cx="3242312" cy="1303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Actual y del caso.</a:t>
            </a:r>
          </a:p>
          <a:p>
            <a:pPr>
              <a:defRPr sz="20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Daño visible.</a:t>
            </a:r>
          </a:p>
          <a:p>
            <a:pPr>
              <a:defRPr sz="20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Elemento identificable.</a:t>
            </a:r>
          </a:p>
          <a:p>
            <a:pPr>
              <a:defRPr sz="20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Contexto cuando aplique.</a:t>
            </a:r>
          </a:p>
        </p:txBody>
      </p:sp>
      <p:sp>
        <p:nvSpPr>
          <p:cNvPr id="206" name="La guía rápida indica carga opcional. Conviene adjuntarla cuando ayude a identificar la falla."/>
          <p:cNvSpPr txBox="1"/>
          <p:nvPr/>
        </p:nvSpPr>
        <p:spPr>
          <a:xfrm>
            <a:off x="655319" y="5753100"/>
            <a:ext cx="10881362" cy="314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La guía rápida indica carga opcional. Conviene adjuntarla cuando ayude a identificar la falla.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CAPACITACIÓN REGIONAL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CAPACITACIÓN REGIONAL</a:t>
            </a:r>
          </a:p>
        </p:txBody>
      </p:sp>
      <p:sp>
        <p:nvSpPr>
          <p:cNvPr id="211" name="Envío y confirmación del registro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Envío y confirmación del registro</a:t>
            </a:r>
          </a:p>
        </p:txBody>
      </p:sp>
      <p:sp>
        <p:nvSpPr>
          <p:cNvPr id="212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213" name="15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15</a:t>
            </a:r>
          </a:p>
        </p:txBody>
      </p:sp>
      <p:pic>
        <p:nvPicPr>
          <p:cNvPr id="214" name="image6.png" descr="image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9600" y="2618183"/>
            <a:ext cx="5429250" cy="1907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image7.png" descr="image7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705600" y="2192298"/>
            <a:ext cx="4762500" cy="2692478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1  Enviar solicitud"/>
          <p:cNvSpPr txBox="1"/>
          <p:nvPr/>
        </p:nvSpPr>
        <p:spPr>
          <a:xfrm>
            <a:off x="655319" y="5267325"/>
            <a:ext cx="5337812" cy="413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  Enviar solicitud</a:t>
            </a:r>
          </a:p>
        </p:txBody>
      </p:sp>
      <p:sp>
        <p:nvSpPr>
          <p:cNvPr id="217" name="2  Verificar “Solicitud Enviada”"/>
          <p:cNvSpPr txBox="1"/>
          <p:nvPr/>
        </p:nvSpPr>
        <p:spPr>
          <a:xfrm>
            <a:off x="6751319" y="5267325"/>
            <a:ext cx="4671062" cy="413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2  Verificar “Solicitud Enviada”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CAPACITACIÓN REGIONAL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CAPACITACIÓN REGIONAL</a:t>
            </a:r>
          </a:p>
        </p:txBody>
      </p:sp>
      <p:sp>
        <p:nvSpPr>
          <p:cNvPr id="222" name="Acceso al seguimiento desde el correo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Acceso al seguimiento desde el correo</a:t>
            </a:r>
          </a:p>
        </p:txBody>
      </p:sp>
      <p:sp>
        <p:nvSpPr>
          <p:cNvPr id="223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224" name="16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16</a:t>
            </a:r>
          </a:p>
        </p:txBody>
      </p:sp>
      <p:pic>
        <p:nvPicPr>
          <p:cNvPr id="225" name="image8.png" descr="image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9600" y="2110901"/>
            <a:ext cx="5524500" cy="309339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image9.png" descr="image9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196138" y="2076450"/>
            <a:ext cx="4171951" cy="2781300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1  Confirmación: enlace “here”"/>
          <p:cNvSpPr txBox="1"/>
          <p:nvPr/>
        </p:nvSpPr>
        <p:spPr>
          <a:xfrm>
            <a:off x="655319" y="5305425"/>
            <a:ext cx="5433062" cy="413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  Confirmación: enlace “here”</a:t>
            </a:r>
          </a:p>
        </p:txBody>
      </p:sp>
      <p:sp>
        <p:nvSpPr>
          <p:cNvPr id="228" name="2  Mismo correo del ticket"/>
          <p:cNvSpPr txBox="1"/>
          <p:nvPr/>
        </p:nvSpPr>
        <p:spPr>
          <a:xfrm>
            <a:off x="7237094" y="5038725"/>
            <a:ext cx="4090037" cy="413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2  Mismo correo del ticket</a:t>
            </a:r>
          </a:p>
        </p:txBody>
      </p:sp>
      <p:sp>
        <p:nvSpPr>
          <p:cNvPr id="229" name="Send Sign-In Link…"/>
          <p:cNvSpPr txBox="1"/>
          <p:nvPr/>
        </p:nvSpPr>
        <p:spPr>
          <a:xfrm>
            <a:off x="7237094" y="5562600"/>
            <a:ext cx="4090037" cy="5933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7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Send Sign-In Link</a:t>
            </a:r>
          </a:p>
          <a:p>
            <a:pPr>
              <a:defRPr sz="17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Enlace vigente por 30 minutos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CAPACITACIÓN REGIONAL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CAPACITACIÓN REGIONAL</a:t>
            </a:r>
          </a:p>
        </p:txBody>
      </p:sp>
      <p:sp>
        <p:nvSpPr>
          <p:cNvPr id="234" name="Consulta de estatus y avance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Consulta de estatus y avance</a:t>
            </a:r>
          </a:p>
        </p:txBody>
      </p:sp>
      <p:sp>
        <p:nvSpPr>
          <p:cNvPr id="235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236" name="17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17</a:t>
            </a:r>
          </a:p>
        </p:txBody>
      </p:sp>
      <p:pic>
        <p:nvPicPr>
          <p:cNvPr id="237" name="image10.png" descr="image10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2450" y="2066925"/>
            <a:ext cx="7252350" cy="4171950"/>
          </a:xfrm>
          <a:prstGeom prst="rect">
            <a:avLst/>
          </a:prstGeom>
          <a:ln w="12700">
            <a:miter lim="400000"/>
          </a:ln>
        </p:spPr>
      </p:pic>
      <p:sp>
        <p:nvSpPr>
          <p:cNvPr id="238" name="Control del Regional"/>
          <p:cNvSpPr txBox="1"/>
          <p:nvPr/>
        </p:nvSpPr>
        <p:spPr>
          <a:xfrm>
            <a:off x="8351519" y="2076450"/>
            <a:ext cx="3089912" cy="438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3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Control del Regional</a:t>
            </a:r>
          </a:p>
        </p:txBody>
      </p:sp>
      <p:sp>
        <p:nvSpPr>
          <p:cNvPr id="239" name="Ticket identificable.…"/>
          <p:cNvSpPr txBox="1"/>
          <p:nvPr/>
        </p:nvSpPr>
        <p:spPr>
          <a:xfrm>
            <a:off x="8351519" y="3000375"/>
            <a:ext cx="3089912" cy="2129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9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Ticket identificable.</a:t>
            </a:r>
          </a:p>
          <a:p>
            <a:pPr>
              <a:defRPr sz="19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Agencia correcta.</a:t>
            </a:r>
          </a:p>
          <a:p>
            <a:pPr>
              <a:defRPr sz="19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Datos generales coherentes.</a:t>
            </a:r>
          </a:p>
          <a:p>
            <a:pPr>
              <a:defRPr sz="19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Estatus y avance consultados.</a:t>
            </a:r>
          </a:p>
          <a:p>
            <a:pPr>
              <a:defRPr sz="19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Seguimiento de la Agencia.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CONTROL REGIONAL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0A8D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CONTROL REGIONAL</a:t>
            </a:r>
          </a:p>
        </p:txBody>
      </p:sp>
      <p:sp>
        <p:nvSpPr>
          <p:cNvPr id="244" name="Escalación por impacto, urgencia o recurrencia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Escalación por impacto, urgencia o recurrencia</a:t>
            </a:r>
          </a:p>
        </p:txBody>
      </p:sp>
      <p:sp>
        <p:nvSpPr>
          <p:cNvPr id="245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BAC8D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246" name="18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0A8D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247" name="Impacto"/>
          <p:cNvSpPr txBox="1"/>
          <p:nvPr/>
        </p:nvSpPr>
        <p:spPr>
          <a:xfrm>
            <a:off x="655319" y="2162175"/>
            <a:ext cx="3099437" cy="5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20A8D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Impacto</a:t>
            </a:r>
          </a:p>
        </p:txBody>
      </p:sp>
      <p:sp>
        <p:nvSpPr>
          <p:cNvPr id="248" name="Afectación relevante a operación, seguridad o continuidad."/>
          <p:cNvSpPr txBox="1"/>
          <p:nvPr/>
        </p:nvSpPr>
        <p:spPr>
          <a:xfrm>
            <a:off x="655319" y="2914650"/>
            <a:ext cx="3099437" cy="1036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1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Afectación relevante a operación, seguridad o continuidad.</a:t>
            </a:r>
          </a:p>
        </p:txBody>
      </p:sp>
      <p:sp>
        <p:nvSpPr>
          <p:cNvPr id="249" name="Urgencia"/>
          <p:cNvSpPr txBox="1"/>
          <p:nvPr/>
        </p:nvSpPr>
        <p:spPr>
          <a:xfrm>
            <a:off x="4560569" y="2162175"/>
            <a:ext cx="3099437" cy="5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20A8D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Urgencia</a:t>
            </a:r>
          </a:p>
        </p:txBody>
      </p:sp>
      <p:sp>
        <p:nvSpPr>
          <p:cNvPr id="250" name="Condición que requiere atención prioritaria."/>
          <p:cNvSpPr txBox="1"/>
          <p:nvPr/>
        </p:nvSpPr>
        <p:spPr>
          <a:xfrm>
            <a:off x="4560569" y="2914650"/>
            <a:ext cx="3099437" cy="718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1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Condición que requiere atención prioritaria.</a:t>
            </a:r>
          </a:p>
        </p:txBody>
      </p:sp>
      <p:sp>
        <p:nvSpPr>
          <p:cNvPr id="251" name="Recurrencia"/>
          <p:cNvSpPr txBox="1"/>
          <p:nvPr/>
        </p:nvSpPr>
        <p:spPr>
          <a:xfrm>
            <a:off x="8465819" y="2162175"/>
            <a:ext cx="3051812" cy="5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20A8D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Recurrencia</a:t>
            </a:r>
          </a:p>
        </p:txBody>
      </p:sp>
      <p:sp>
        <p:nvSpPr>
          <p:cNvPr id="252" name="Incidencia repetida que requiere validación adicional."/>
          <p:cNvSpPr txBox="1"/>
          <p:nvPr/>
        </p:nvSpPr>
        <p:spPr>
          <a:xfrm>
            <a:off x="8465819" y="2914650"/>
            <a:ext cx="3051812" cy="1036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1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Incidencia repetida que requiere validación adicional.</a:t>
            </a:r>
          </a:p>
        </p:txBody>
      </p:sp>
      <p:sp>
        <p:nvSpPr>
          <p:cNvPr id="253" name="El Regional escala cuando es necesario. Mantenimiento Jr revisa casos que requieren criterio adicional."/>
          <p:cNvSpPr txBox="1"/>
          <p:nvPr/>
        </p:nvSpPr>
        <p:spPr>
          <a:xfrm>
            <a:off x="655319" y="5753100"/>
            <a:ext cx="10881362" cy="314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C4D1E1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El Regional escala cuando es necesario. Mantenimiento Jr revisa casos que requieren criterio adicional.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CAPACITACIÓN REGIONAL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CAPACITACIÓN REGIONAL</a:t>
            </a:r>
          </a:p>
        </p:txBody>
      </p:sp>
      <p:sp>
        <p:nvSpPr>
          <p:cNvPr id="258" name="Atención y cierre de la orden de trabajo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Atención y cierre de la orden de trabajo</a:t>
            </a:r>
          </a:p>
        </p:txBody>
      </p:sp>
      <p:sp>
        <p:nvSpPr>
          <p:cNvPr id="259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260" name="19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261" name="Agencia"/>
          <p:cNvSpPr txBox="1"/>
          <p:nvPr/>
        </p:nvSpPr>
        <p:spPr>
          <a:xfrm>
            <a:off x="655319" y="2057400"/>
            <a:ext cx="3185162" cy="42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Agencia</a:t>
            </a:r>
          </a:p>
        </p:txBody>
      </p:sp>
      <p:sp>
        <p:nvSpPr>
          <p:cNvPr id="262" name="Da seguimiento hasta la atención o cierre y garantiza la correcta ejecución del trabajo."/>
          <p:cNvSpPr txBox="1"/>
          <p:nvPr/>
        </p:nvSpPr>
        <p:spPr>
          <a:xfrm>
            <a:off x="655319" y="2724150"/>
            <a:ext cx="3185162" cy="1303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Da seguimiento hasta la atención o cierre y garantiza la correcta ejecución del trabajo.</a:t>
            </a:r>
          </a:p>
        </p:txBody>
      </p:sp>
      <p:sp>
        <p:nvSpPr>
          <p:cNvPr id="263" name="Regional"/>
          <p:cNvSpPr txBox="1"/>
          <p:nvPr/>
        </p:nvSpPr>
        <p:spPr>
          <a:xfrm>
            <a:off x="4312919" y="2057400"/>
            <a:ext cx="3185162" cy="42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Regional</a:t>
            </a:r>
          </a:p>
        </p:txBody>
      </p:sp>
      <p:sp>
        <p:nvSpPr>
          <p:cNvPr id="264" name="Asegura el seguimiento oportuno y revisa recurrencias o desviaciones cuando aplica."/>
          <p:cNvSpPr txBox="1"/>
          <p:nvPr/>
        </p:nvSpPr>
        <p:spPr>
          <a:xfrm>
            <a:off x="4312919" y="2724150"/>
            <a:ext cx="3185162" cy="1608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Asegura el seguimiento oportuno y revisa recurrencias o desviaciones cuando aplica.</a:t>
            </a:r>
          </a:p>
        </p:txBody>
      </p:sp>
      <p:sp>
        <p:nvSpPr>
          <p:cNvPr id="265" name="Orden de trabajo"/>
          <p:cNvSpPr txBox="1"/>
          <p:nvPr/>
        </p:nvSpPr>
        <p:spPr>
          <a:xfrm>
            <a:off x="7970519" y="2057400"/>
            <a:ext cx="3185162" cy="42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Orden de trabajo</a:t>
            </a:r>
          </a:p>
        </p:txBody>
      </p:sp>
      <p:sp>
        <p:nvSpPr>
          <p:cNvPr id="266" name="Asigna el ticket a cuadrilla o proveedor para ejecutar la petición."/>
          <p:cNvSpPr txBox="1"/>
          <p:nvPr/>
        </p:nvSpPr>
        <p:spPr>
          <a:xfrm>
            <a:off x="7970519" y="2724150"/>
            <a:ext cx="3185162" cy="998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Asigna el ticket a cuadrilla o proveedor para ejecutar la petición.</a:t>
            </a:r>
          </a:p>
        </p:txBody>
      </p:sp>
      <p:sp>
        <p:nvSpPr>
          <p:cNvPr id="267" name="El cierre es el estatus final cuando la incidencia se atendió, concluyó o resolvió conforme al proceso."/>
          <p:cNvSpPr txBox="1"/>
          <p:nvPr/>
        </p:nvSpPr>
        <p:spPr>
          <a:xfrm>
            <a:off x="655319" y="5753100"/>
            <a:ext cx="10881362" cy="314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El cierre es el estatus final cuando la incidencia se atendió, concluyó o resolvió conforme al proceso.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CAPACITACIÓN REGIONAL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CAPACITACIÓN REGIONAL</a:t>
            </a:r>
          </a:p>
        </p:txBody>
      </p:sp>
      <p:sp>
        <p:nvSpPr>
          <p:cNvPr id="272" name="Checklist de supervisión regional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Checklist de supervisión regional</a:t>
            </a:r>
          </a:p>
        </p:txBody>
      </p:sp>
      <p:sp>
        <p:nvSpPr>
          <p:cNvPr id="273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274" name="20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20</a:t>
            </a:r>
          </a:p>
        </p:txBody>
      </p:sp>
      <p:graphicFrame>
        <p:nvGraphicFramePr>
          <p:cNvPr id="275" name="Tabla 1"/>
          <p:cNvGraphicFramePr/>
          <p:nvPr/>
        </p:nvGraphicFramePr>
        <p:xfrm>
          <a:off x="609600" y="2000250"/>
          <a:ext cx="10972800" cy="366712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476625"/>
                <a:gridCol w="7496175"/>
              </a:tblGrid>
              <a:tr h="5238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Punto de control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Validación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Antes de registrar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Necesidad real, comparación con matriz y contención aplicable.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Calidad del ticket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Descripción clara, ubicación correcta y categoría relacionada.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Captura y envío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Título y prioridad intactos, datos de Agencia y confirmación.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Seguimiento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Correo de recepción, consulta del avance y gestión de la Agencia.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Excepciones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Recurrencias, desviaciones o atención prioritaria validadas.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Hasta atención o cierre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Seguimiento de la correcta ejecución y escalación cuando aplique.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ACTIVIDAD  /  7 MINUTOS SUGERIDOS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ACTIVIDAD  /  7 MINUTOS SUGERIDOS</a:t>
            </a:r>
          </a:p>
        </p:txBody>
      </p:sp>
      <p:sp>
        <p:nvSpPr>
          <p:cNvPr id="280" name="Práctica 2: auditoría de un ticket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Práctica 2: auditoría de un ticket</a:t>
            </a:r>
          </a:p>
        </p:txBody>
      </p:sp>
      <p:sp>
        <p:nvSpPr>
          <p:cNvPr id="281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282" name="21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21</a:t>
            </a:r>
          </a:p>
        </p:txBody>
      </p:sp>
      <p:graphicFrame>
        <p:nvGraphicFramePr>
          <p:cNvPr id="283" name="Tabla 1"/>
          <p:cNvGraphicFramePr/>
          <p:nvPr/>
        </p:nvGraphicFramePr>
        <p:xfrm>
          <a:off x="609600" y="2000250"/>
          <a:ext cx="10972800" cy="314325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238500"/>
                <a:gridCol w="7734300"/>
              </a:tblGrid>
              <a:tr h="5238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Registro simulado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Información capturada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Hallazgo real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Contacto con cableado expuesto en caja de Agencia A.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Descripción y ubicación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“No sirve” / Agencia B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Título y prioridad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Título editado manualmente / Prioridad cambiada a alta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Categoría y contacto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Preventivo / Correo y teléfono personales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Evidencia y confirmación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Foto de otra Agencia / No se verificó “Solicitud Enviada”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284" name="Detectar errores, proponer correcciones y explicar qué corresponde escalar."/>
          <p:cNvSpPr txBox="1"/>
          <p:nvPr/>
        </p:nvSpPr>
        <p:spPr>
          <a:xfrm>
            <a:off x="655319" y="5753100"/>
            <a:ext cx="10881362" cy="314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Detectar errores, proponer correcciones y explicar qué corresponde escalar.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ACTIVIDAD  /  10 MINUTOS SUGERIDOS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ACTIVIDAD  /  10 MINUTOS SUGERIDOS</a:t>
            </a:r>
          </a:p>
        </p:txBody>
      </p:sp>
      <p:sp>
        <p:nvSpPr>
          <p:cNvPr id="289" name="Práctica 3: gestión de un caso completo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Práctica 3: gestión de un caso completo</a:t>
            </a:r>
          </a:p>
        </p:txBody>
      </p:sp>
      <p:sp>
        <p:nvSpPr>
          <p:cNvPr id="290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291" name="22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292" name="Filtración en techo del almacén"/>
          <p:cNvSpPr txBox="1"/>
          <p:nvPr/>
        </p:nvSpPr>
        <p:spPr>
          <a:xfrm>
            <a:off x="655319" y="2085975"/>
            <a:ext cx="10671812" cy="512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Filtración en techo del almacén</a:t>
            </a:r>
          </a:p>
        </p:txBody>
      </p:sp>
      <p:sp>
        <p:nvSpPr>
          <p:cNvPr id="293" name="La Agencia observa agua en piso cerca de mobiliario.…"/>
          <p:cNvSpPr txBox="1"/>
          <p:nvPr/>
        </p:nvSpPr>
        <p:spPr>
          <a:xfrm>
            <a:off x="655319" y="2857500"/>
            <a:ext cx="10481312" cy="794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La Agencia observa agua en piso cerca de mobiliario.</a:t>
            </a:r>
          </a:p>
          <a:p>
            <a:pPr>
              <a:defRPr sz="2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Reporta que la incidencia se ha presentado nuevamente.</a:t>
            </a:r>
          </a:p>
        </p:txBody>
      </p:sp>
      <p:sp>
        <p:nvSpPr>
          <p:cNvPr id="294" name="Entregables del equipo"/>
          <p:cNvSpPr txBox="1"/>
          <p:nvPr/>
        </p:nvSpPr>
        <p:spPr>
          <a:xfrm>
            <a:off x="655319" y="4248150"/>
            <a:ext cx="4623437" cy="413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Entregables del equipo</a:t>
            </a:r>
          </a:p>
        </p:txBody>
      </p:sp>
      <p:sp>
        <p:nvSpPr>
          <p:cNvPr id="295" name="Decisión de procedencia y contención.…"/>
          <p:cNvSpPr txBox="1"/>
          <p:nvPr/>
        </p:nvSpPr>
        <p:spPr>
          <a:xfrm>
            <a:off x="655319" y="4810125"/>
            <a:ext cx="5128262" cy="923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Decisión de procedencia y contención.</a:t>
            </a:r>
          </a:p>
          <a:p>
            <a:pPr>
              <a:defRPr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Descripción lista para capturar.</a:t>
            </a:r>
          </a:p>
          <a:p>
            <a:pPr>
              <a:defRPr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Campos que debe revisar la Agencia.</a:t>
            </a:r>
          </a:p>
        </p:txBody>
      </p:sp>
      <p:sp>
        <p:nvSpPr>
          <p:cNvPr id="296" name="Justificación de la escalación.…"/>
          <p:cNvSpPr txBox="1"/>
          <p:nvPr/>
        </p:nvSpPr>
        <p:spPr>
          <a:xfrm>
            <a:off x="6484619" y="4810125"/>
            <a:ext cx="4956812" cy="923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Justificación de la escalación.</a:t>
            </a:r>
          </a:p>
          <a:p>
            <a:pPr>
              <a:defRPr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Ruta de consulta del estatus.</a:t>
            </a:r>
          </a:p>
          <a:p>
            <a:pPr>
              <a:defRPr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Controles del Regional hasta la atención.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CAPACITACIÓN REGIONAL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CAPACITACIÓN REGIONAL</a:t>
            </a:r>
          </a:p>
        </p:txBody>
      </p:sp>
      <p:sp>
        <p:nvSpPr>
          <p:cNvPr id="301" name="Comprobación de aprendizaje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Comprobación de aprendizaje</a:t>
            </a:r>
          </a:p>
        </p:txBody>
      </p:sp>
      <p:sp>
        <p:nvSpPr>
          <p:cNvPr id="302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303" name="23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23</a:t>
            </a:r>
          </a:p>
        </p:txBody>
      </p:sp>
      <p:sp>
        <p:nvSpPr>
          <p:cNvPr id="304" name="Cada participante debe poder explicar:"/>
          <p:cNvSpPr txBox="1"/>
          <p:nvPr/>
        </p:nvSpPr>
        <p:spPr>
          <a:xfrm>
            <a:off x="655319" y="2114550"/>
            <a:ext cx="10386062" cy="42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Cada participante debe poder explicar:</a:t>
            </a:r>
          </a:p>
        </p:txBody>
      </p:sp>
      <p:sp>
        <p:nvSpPr>
          <p:cNvPr id="305" name="01   Quién aprueba o rechaza la solicitud…"/>
          <p:cNvSpPr txBox="1"/>
          <p:nvPr/>
        </p:nvSpPr>
        <p:spPr>
          <a:xfrm>
            <a:off x="655319" y="2857500"/>
            <a:ext cx="10481312" cy="1861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01   Quién aprueba o rechaza la solicitud</a:t>
            </a:r>
          </a:p>
          <a:p>
            <a:pPr>
              <a:defRPr sz="2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02   Qué campos automáticos permanecen sin cambios</a:t>
            </a:r>
          </a:p>
          <a:p>
            <a:pPr>
              <a:defRPr sz="2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03   Cómo confirmar que el ticket quedó registrado</a:t>
            </a:r>
          </a:p>
          <a:p>
            <a:pPr>
              <a:defRPr sz="2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04   Cómo consultar el estatus desde el correo</a:t>
            </a:r>
          </a:p>
          <a:p>
            <a:pPr>
              <a:defRPr sz="2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05   Cuándo el Regional valida y escala</a:t>
            </a:r>
          </a:p>
        </p:txBody>
      </p:sp>
      <p:sp>
        <p:nvSpPr>
          <p:cNvPr id="306" name="La evaluación usa el procedimiento como referencia. No establece un puntaje oficial de certificación."/>
          <p:cNvSpPr txBox="1"/>
          <p:nvPr/>
        </p:nvSpPr>
        <p:spPr>
          <a:xfrm>
            <a:off x="655319" y="5753100"/>
            <a:ext cx="10881362" cy="314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La evaluación usa el procedimiento como referencia. No establece un puntaje oficial de certificación.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ANEXO  /  MATRIZ FUENTE, PARTE 1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ANEXO  /  MATRIZ FUENTE, PARTE 1</a:t>
            </a:r>
          </a:p>
        </p:txBody>
      </p:sp>
      <p:sp>
        <p:nvSpPr>
          <p:cNvPr id="311" name="Referencia rápida: grupos de mantenimiento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Referencia rápida: grupos de mantenimiento</a:t>
            </a:r>
          </a:p>
        </p:txBody>
      </p:sp>
      <p:sp>
        <p:nvSpPr>
          <p:cNvPr id="312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313" name="24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24</a:t>
            </a:r>
          </a:p>
        </p:txBody>
      </p:sp>
      <p:graphicFrame>
        <p:nvGraphicFramePr>
          <p:cNvPr id="314" name="Tabla 1"/>
          <p:cNvGraphicFramePr/>
          <p:nvPr/>
        </p:nvGraphicFramePr>
        <p:xfrm>
          <a:off x="609600" y="1905000"/>
          <a:ext cx="10972800" cy="390525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667000"/>
                <a:gridCol w="5638800"/>
                <a:gridCol w="2667000"/>
              </a:tblGrid>
              <a:tr h="4881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Grupo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Ejemplos reportables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Criticidad sugerida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Aire acondicionado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No enciende, no enfría, goteo, ruido o vibración anormal.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Alta / Media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Albañilería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Grietas, fisuras, desprendimiento o daño en concreto.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Alta / Media / Baja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Branding / lonas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Lona rota, desprendida o descolorida. Bastidor dañado.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Media / Baja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Carpintería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Puerta, jaladera, bisagra, chapa o mueble dañado.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Media / Baja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Electricidad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Contacto o apagador con falla. Cableado expuesto.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Crítica / Alta / Media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Extintores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Descargado, faltante, con daño o vigencia vencida.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Crítica / Alta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Fumigación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Plaga invasiva, fauna nociva, infestación o reincidencia.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Alta / Media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ANEXO  /  MATRIZ FUENTE, PARTE 2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ANEXO  /  MATRIZ FUENTE, PARTE 2</a:t>
            </a:r>
          </a:p>
        </p:txBody>
      </p:sp>
      <p:sp>
        <p:nvSpPr>
          <p:cNvPr id="319" name="Referencia rápida: grupos de mantenimiento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Referencia rápida: grupos de mantenimiento</a:t>
            </a:r>
          </a:p>
        </p:txBody>
      </p:sp>
      <p:sp>
        <p:nvSpPr>
          <p:cNvPr id="320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321" name="25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25</a:t>
            </a:r>
          </a:p>
        </p:txBody>
      </p:sp>
      <p:graphicFrame>
        <p:nvGraphicFramePr>
          <p:cNvPr id="322" name="Tabla 1"/>
          <p:cNvGraphicFramePr/>
          <p:nvPr/>
        </p:nvGraphicFramePr>
        <p:xfrm>
          <a:off x="609600" y="1905000"/>
          <a:ext cx="10972800" cy="390525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667000"/>
                <a:gridCol w="5638800"/>
                <a:gridCol w="2667000"/>
              </a:tblGrid>
              <a:tr h="4881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Grupo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Ejemplos reportables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Criticidad sugerida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01C30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Herrería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Cortina, chapa, cerradura, soldadura o estructura con falla.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Alta / Media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Impermeabilización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Filtración, gotera, humedad, sellado o canalones.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Crítica / Alta / Media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Mobiliario y equipo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Silla, escritorio o equipo con daño funcional o estructural.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Media / Baja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Pintura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Desprendimiento, grafiti o decoloración severa.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Alta / Media / Baja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Pisos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Loseta rota, desnivel, bordes expuestos o riesgo de tropiezo.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Alta / Media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Plafones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Roto, desprendido, deformado o con riesgo de caída.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Alta / Media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Plomería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Fuga, obstrucción, tubería dañada, bomba o drenaje.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92A3D"/>
                          </a:solidFill>
                          <a:latin typeface="+mj-lt"/>
                          <a:ea typeface="+mj-ea"/>
                          <a:cs typeface="+mj-cs"/>
                          <a:sym typeface="Helvetica Neue"/>
                        </a:rPr>
                        <a:t>Alta / Media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ANEXO  /  FUENTES Y ALCANCE"/>
          <p:cNvSpPr txBox="1"/>
          <p:nvPr/>
        </p:nvSpPr>
        <p:spPr>
          <a:xfrm>
            <a:off x="655319" y="323850"/>
            <a:ext cx="10386062" cy="277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ANEXO  /  FUENTES Y ALCANCE</a:t>
            </a:r>
          </a:p>
        </p:txBody>
      </p:sp>
      <p:sp>
        <p:nvSpPr>
          <p:cNvPr id="327" name="Materiales de consulta"/>
          <p:cNvSpPr txBox="1"/>
          <p:nvPr/>
        </p:nvSpPr>
        <p:spPr>
          <a:xfrm>
            <a:off x="655319" y="781050"/>
            <a:ext cx="10881362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Materiales de consulta</a:t>
            </a:r>
          </a:p>
        </p:txBody>
      </p:sp>
      <p:sp>
        <p:nvSpPr>
          <p:cNvPr id="328" name="VENTO  /  GRUPO VNA"/>
          <p:cNvSpPr txBox="1"/>
          <p:nvPr/>
        </p:nvSpPr>
        <p:spPr>
          <a:xfrm>
            <a:off x="655319" y="6400800"/>
            <a:ext cx="5623562" cy="2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5665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VENTO  /  GRUPO VNA</a:t>
            </a:r>
          </a:p>
        </p:txBody>
      </p:sp>
      <p:sp>
        <p:nvSpPr>
          <p:cNvPr id="329" name="26"/>
          <p:cNvSpPr txBox="1"/>
          <p:nvPr/>
        </p:nvSpPr>
        <p:spPr>
          <a:xfrm>
            <a:off x="11094719" y="6353175"/>
            <a:ext cx="480062" cy="3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26</a:t>
            </a:r>
          </a:p>
        </p:txBody>
      </p:sp>
      <p:sp>
        <p:nvSpPr>
          <p:cNvPr id="330" name="Procedimiento formal"/>
          <p:cNvSpPr txBox="1"/>
          <p:nvPr/>
        </p:nvSpPr>
        <p:spPr>
          <a:xfrm>
            <a:off x="655319" y="2047875"/>
            <a:ext cx="10386062" cy="438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3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Procedimiento formal</a:t>
            </a:r>
          </a:p>
        </p:txBody>
      </p:sp>
      <p:sp>
        <p:nvSpPr>
          <p:cNvPr id="331" name="Procedimiento para Levantamiento de Ticket de Mantenimiento…"/>
          <p:cNvSpPr txBox="1"/>
          <p:nvPr/>
        </p:nvSpPr>
        <p:spPr>
          <a:xfrm>
            <a:off x="655319" y="2552700"/>
            <a:ext cx="10386062" cy="643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Procedimiento para Levantamiento de Ticket de Mantenimiento</a:t>
            </a:r>
          </a:p>
          <a:p>
            <a:pPr>
              <a:defRPr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en UpKeep con comentarios (1).pdf  ·  Versión 01, 15/09/26</a:t>
            </a:r>
          </a:p>
        </p:txBody>
      </p:sp>
      <p:sp>
        <p:nvSpPr>
          <p:cNvPr id="332" name="Guía operativa"/>
          <p:cNvSpPr txBox="1"/>
          <p:nvPr/>
        </p:nvSpPr>
        <p:spPr>
          <a:xfrm>
            <a:off x="655319" y="3752850"/>
            <a:ext cx="10386062" cy="438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3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Guía operativa</a:t>
            </a:r>
          </a:p>
        </p:txBody>
      </p:sp>
      <p:sp>
        <p:nvSpPr>
          <p:cNvPr id="333" name="Guía rápida.pdf  ·  Pasos del portal y acceso al seguimiento"/>
          <p:cNvSpPr txBox="1"/>
          <p:nvPr/>
        </p:nvSpPr>
        <p:spPr>
          <a:xfrm>
            <a:off x="655319" y="4257675"/>
            <a:ext cx="10386062" cy="364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Guía rápida.pdf  ·  Pasos del portal y acceso al seguimiento</a:t>
            </a:r>
          </a:p>
        </p:txBody>
      </p:sp>
      <p:sp>
        <p:nvSpPr>
          <p:cNvPr id="334" name="Referencia visual previa"/>
          <p:cNvSpPr txBox="1"/>
          <p:nvPr/>
        </p:nvSpPr>
        <p:spPr>
          <a:xfrm>
            <a:off x="655319" y="5048250"/>
            <a:ext cx="10386062" cy="438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300">
                <a:solidFill>
                  <a:srgbClr val="235CE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Referencia visual previa</a:t>
            </a:r>
          </a:p>
        </p:txBody>
      </p:sp>
      <p:sp>
        <p:nvSpPr>
          <p:cNvPr id="335" name="Procedimiento UpKeep VNA.pdf  ·  Presentación de 10 páginas"/>
          <p:cNvSpPr txBox="1"/>
          <p:nvPr/>
        </p:nvSpPr>
        <p:spPr>
          <a:xfrm>
            <a:off x="655319" y="5553075"/>
            <a:ext cx="10386062" cy="364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192A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Procedimiento UpKeep VNA.pdf  ·  Presentación de 10 páginas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